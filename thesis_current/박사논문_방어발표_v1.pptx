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CJK KR"/>
              </a:rPr>
              <a:t>호서대학교 대학원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Noto Sans CJK KR"/>
              </a:rPr>
              <a:t>융합공학과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박사학위 논문 방어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5778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CJK KR"/>
              </a:rPr>
              <a:t>2026. 4. 30.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Noto Sans CJK KR"/>
              </a:rPr>
              <a:t>박사학위 논문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73152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근위 정책 최적화 기반 적응형</a:t>
            </a:r>
          </a:p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동적 가중치 학습을 통한</a:t>
            </a:r>
          </a:p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Triple-Hybrid RAG 프레임워크의</a:t>
            </a:r>
          </a:p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성능 최적화 연구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Performance Optimization of Triple-Hybrid RAG Framework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via Proximal Policy Optimization-based Learned Dynamic Weighting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212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Noto Sans CJK KR"/>
              </a:rPr>
              <a:t>발표자: 신동욱 (Shin Dong-wook)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5778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>지도교수: 문남미 (Prof. Nammee Moon)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발표 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82880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Noto Sans CJK KR"/>
              </a:rPr>
              <a:t>Part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Noto Sans CJK KR"/>
              </a:rPr>
              <a:t>Opening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65960"/>
            <a:ext cx="6858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Noto Sans CJK KR"/>
              </a:rPr>
              <a:t>연구 한눈에 보기 · 핵심 결과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182880" cy="73152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86C6"/>
                </a:solidFill>
                <a:latin typeface="Noto Sans CJK KR"/>
              </a:rPr>
              <a:t>Part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Noto Sans CJK KR"/>
              </a:rPr>
              <a:t>문제와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6858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Noto Sans CJK KR"/>
              </a:rPr>
              <a:t>Triple-Hybrid RAG · α·β·γ 가중치 문제 · R-DWA 와 L-DWA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40"/>
            <a:ext cx="182880" cy="731520"/>
          </a:xfrm>
          <a:prstGeom prst="rect">
            <a:avLst/>
          </a:prstGeom>
          <a:solidFill>
            <a:srgbClr val="E87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490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56E"/>
                </a:solidFill>
                <a:latin typeface="Noto Sans CJK KR"/>
              </a:rPr>
              <a:t>Part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Noto Sans CJK KR"/>
              </a:rPr>
              <a:t>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886200"/>
            <a:ext cx="6858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Noto Sans CJK KR"/>
              </a:rPr>
              <a:t>5,000 QA 정량 비교 · Oracle 초과 · Conditional 개선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709160"/>
            <a:ext cx="182880" cy="731520"/>
          </a:xfrm>
          <a:prstGeom prst="rect">
            <a:avLst/>
          </a:prstGeom>
          <a:solidFill>
            <a:srgbClr val="8F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091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FB573"/>
                </a:solidFill>
                <a:latin typeface="Noto Sans CJK KR"/>
              </a:rPr>
              <a:t>Part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292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Noto Sans CJK KR"/>
              </a:rPr>
              <a:t>결론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46320"/>
            <a:ext cx="6858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Noto Sans CJK KR"/>
              </a:rPr>
              <a:t>기여 · 한계 · 향후 연구 방향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35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Noto Sans CJK KR"/>
              </a:rPr>
              <a:t>발표 시간: 약 18분 · 슬라이드 26장 + Appendix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 / 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A — Opening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한 문장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Research in One Sentence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Noto Sans CJK KR"/>
              </a:rPr>
              <a:t>Triple-Hybrid RAG 에서 Vector · Graph · Ontology 세 지식 소스의</a:t>
            </a:r>
          </a:p>
          <a:p>
            <a:pPr algn="l"/>
            <a:r>
              <a:rPr sz="2200" b="1">
                <a:solidFill>
                  <a:srgbClr val="1E3A8A"/>
                </a:solidFill>
                <a:latin typeface="Noto Sans CJK KR"/>
              </a:rPr>
              <a:t>가중치 결정을 PPO 로 학습한 연속 정책 (L-DWA) 이 이산 격자 Oracle</a:t>
            </a:r>
          </a:p>
          <a:p>
            <a:pPr algn="l"/>
            <a:r>
              <a:rPr sz="2200" b="1">
                <a:solidFill>
                  <a:srgbClr val="1E3A8A"/>
                </a:solidFill>
                <a:latin typeface="Noto Sans CJK KR"/>
              </a:rPr>
              <a:t>상한을 미세하게 초과하는 지점에 도달하였다.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5661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① Oracle 초과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L-DWA 3-seed 평균 F1_strict 0.562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&gt; 이산 격자 Oracle 0.554 (+0.8%p)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네 개 F1 지표 모두에서 확인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연속 Dirichlet 평균이 격자 바깥 활용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840480"/>
            <a:ext cx="35661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E8756E"/>
                </a:solidFill>
                <a:latin typeface="Noto Sans CJK KR"/>
              </a:rPr>
              <a:t>② Conditional +36.7%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조건부 질의 (n=1,250) 에서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R-DWA 0.223 → L-DWA 0.304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Oracle (0.290) 마저 초과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유형 내 미세 구분을 학습이 포착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840480"/>
            <a:ext cx="35661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8FB573"/>
                </a:solidFill>
                <a:latin typeface="Noto Sans CJK KR"/>
              </a:rPr>
              <a:t>③ 학습 비용 −85%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오프라인 보상 캐시 (330K, 16.8MB)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로 학습 중 LLM 호출 0 회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$288 → $33 · 3-seed 5시간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개인 연구자 수준 재현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3 / 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A — Opening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배경 — RAG 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Background · Retrieval-Augmented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858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Noto Sans CJK KR"/>
              </a:rPr>
              <a:t>대형 언어모델 (LLM) 은 내부 지식만으로 답하면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Noto Sans CJK KR"/>
              </a:rPr>
              <a:t>① 환각 (없는 사실을 지어냄),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Noto Sans CJK KR"/>
              </a:rPr>
              <a:t>② 최신성 부족,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Noto Sans CJK KR"/>
              </a:rPr>
              <a:t>③ 출처 불명 문제가 발생한다.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Noto Sans CJK KR"/>
              </a:rPr>
              <a:t>RAG 는 답을 만들기 전에 먼저 관련 문서를 검색하여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Noto Sans CJK KR"/>
              </a:rPr>
              <a:t>LLM 에 참고 맥락으로 제공하는 기법이다.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011680"/>
            <a:ext cx="3931920" cy="82296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① 질의 (Query)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사용자 질문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017520"/>
            <a:ext cx="3931920" cy="82296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E8756E"/>
                </a:solidFill>
                <a:latin typeface="Noto Sans CJK KR"/>
              </a:rPr>
              <a:t>② Retrieval (검색)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지식 소스에서 관련 정보 추출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023360"/>
            <a:ext cx="3931920" cy="82296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8FB573"/>
                </a:solidFill>
                <a:latin typeface="Noto Sans CJK KR"/>
              </a:rPr>
              <a:t>③ Generation (응답)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LLM 이 맥락을 바탕으로 응답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Noto Sans CJK KR"/>
              </a:rPr>
              <a:t>본 논문의 관심은 ② Retrieval 단계. 특히 Vector · Graph · Ontology</a:t>
            </a:r>
          </a:p>
          <a:p>
            <a:pPr algn="l"/>
            <a:r>
              <a:rPr sz="1300" b="1">
                <a:solidFill>
                  <a:srgbClr val="1E3A8A"/>
                </a:solidFill>
                <a:latin typeface="Noto Sans CJK KR"/>
              </a:rPr>
              <a:t>세 이질적 소스를 동시에 사용하는 Triple-Hybrid 구조에서 각 소스의</a:t>
            </a:r>
          </a:p>
          <a:p>
            <a:pPr algn="l"/>
            <a:r>
              <a:rPr sz="1300" b="1">
                <a:solidFill>
                  <a:srgbClr val="1E3A8A"/>
                </a:solidFill>
                <a:latin typeface="Noto Sans CJK KR"/>
              </a:rPr>
              <a:t>가중치 (α, β, γ) 를 어떻게 정할 것인가가 연구 질문이다.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4 / 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B — 문제와 방법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Triple-Hybrid — 세 지식 소스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Three Heterogeneous Knowledge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56616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🔵 Vector 검색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문장 임베딩 유사도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FAISS, top-k=3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강점: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• 의미 기반 매칭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• 어휘 변동에 유연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약점: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• 정확한 관계 추론 어려움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56616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8FB573"/>
                </a:solidFill>
                <a:latin typeface="Noto Sans CJK KR"/>
              </a:rPr>
              <a:t>🟢 Graph 검색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엔티티-관계 BFS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NetworkX, depth=3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강점: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• 멀티홉 관계 질의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• 소속·참여 정보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약점: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• 유사 표현에 취약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56616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E8756E"/>
                </a:solidFill>
                <a:latin typeface="Noto Sans CJK KR"/>
              </a:rPr>
              <a:t>🔴 Ontology 추론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Owlready2 + HermiT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클래스·속성 추론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강점: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• 조건부 제약 (나이·자격)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• 논리적 만족성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약점: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• 스키마에 의존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E3A8A"/>
                </a:solidFill>
                <a:latin typeface="Noto Sans CJK KR"/>
              </a:rPr>
              <a:t>세 소스는 서로 강점이 다름 → 질의마다 적절한 비율로 섞어야 함.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5 / 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B — 문제와 방법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α·β·γ — 가중치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The Weighting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Noto Sans CJK KR"/>
              </a:rPr>
              <a:t>세 소스의 기여도를 α·β·γ 로 표기, 합 = 1 제약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486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>→ (α, β, γ) 는 Δ³ 삼각형 안의 한 점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>예시: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>• (0.6, 0.2, 0.2) — Vector 중심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>• (0.2, 0.6, 0.2) — Graph 중심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>• (0.2, 0.2, 0.6) — Ontology 중심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>• (1/3, 1/3, 1/3) — 균등</a:t>
            </a:r>
          </a:p>
        </p:txBody>
      </p:sp>
      <p:pic>
        <p:nvPicPr>
          <p:cNvPr id="8" name="Picture 7" descr="fig4_1_rdwa_vs_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5303520" cy="49272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Noto Sans CJK KR"/>
              </a:rPr>
              <a:t>핵심 어려움 — 질의마다 최적의 점이 다름.  </a:t>
            </a:r>
          </a:p>
          <a:p>
            <a:pPr algn="l"/>
            <a:r>
              <a:rPr sz="1300" b="0">
                <a:solidFill>
                  <a:srgbClr val="6B7280"/>
                </a:solidFill>
                <a:latin typeface="Noto Sans CJK KR"/>
              </a:rPr>
              <a:t>• 「최재원 교수의 소속 학과는?」 → Vector 중심  </a:t>
            </a:r>
          </a:p>
          <a:p>
            <a:pPr algn="l"/>
            <a:r>
              <a:rPr sz="1300" b="0">
                <a:solidFill>
                  <a:srgbClr val="6B7280"/>
                </a:solidFill>
                <a:latin typeface="Noto Sans CJK KR"/>
              </a:rPr>
              <a:t>• 「55세 이하 소속 교수는?」 → Ontology 중심  </a:t>
            </a:r>
          </a:p>
          <a:p>
            <a:pPr algn="l"/>
            <a:r>
              <a:rPr sz="1300" b="0">
                <a:solidFill>
                  <a:srgbClr val="6B7280"/>
                </a:solidFill>
                <a:latin typeface="Noto Sans CJK KR"/>
              </a:rPr>
              <a:t>• 「배 포함 프로젝트 참여 학과는?」 → Graph 중심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6 / 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B — 문제와 방법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선행 연구 — R-DWA (규칙 기반)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Prior Work · Rule-based Dynamic Weighting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Shin &amp; Moon (2025, JKSCI) — 2단계 규칙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54864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Stage 1-2. 유형별 기본 가중치 (Table 4-1)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유형             α       β       γ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simple           0.6     0.2     0.2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multi_hop        0.2     0.6     0.2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conditional      0.2     0.2     0.6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+ 밀도 신호 s_r, s_c 로 미세 조정 (λ = 0.3)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56E"/>
                </a:solidFill>
                <a:latin typeface="Noto Sans CJK KR"/>
              </a:rPr>
              <a:t>R-DWA 의 네 가지 구조적 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5303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① 도메인 편향된 기본 가중치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    — Oracle 실측은 Ontology 지배적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② 단일 λ = 0.3 하이퍼파라미터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    — 질의별 특성 미반영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③ 유형 내 미세 구분 부재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    — 같은 conditional 도 성격 다양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④ 도메인 이전 불가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    — HotpotQA F1 0.097 &lt; Vector-only 0.102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E3A8A"/>
                </a:solidFill>
                <a:latin typeface="Noto Sans CJK KR"/>
              </a:rPr>
              <a:t>→ 본 논문은 이 네 한계를 정면으로 다루기 위해 규칙 표를 학습된 신경망으로 대체한다.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7 / 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B — 문제와 방법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제안 — L-DWA (MDP 공식화)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Proposed · Learned DWA as 1-step MDP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가중치 결정을 Markov Decision Process 로 환원 — RAG 맥락에서 최초 사례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5661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🧩 State (18-dim)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• 질의 메타 (길이·엔티티·제약)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• Intent logits (3-dim)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• 밀도 신호 (s_e, s_r, s_c)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• Retrieval 점수 통계량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468880"/>
            <a:ext cx="35661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E8756E"/>
                </a:solidFill>
                <a:latin typeface="Noto Sans CJK KR"/>
              </a:rPr>
              <a:t>🎯 Action (Δ³)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• (α, β, γ) · 합 = 1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• 연속 simplex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• Dirichlet 분포에서 샘플링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468880"/>
            <a:ext cx="35661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8FB573"/>
                </a:solidFill>
                <a:latin typeface="Noto Sans CJK KR"/>
              </a:rPr>
              <a:t>💰 Reward (scalar)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R = 0.5·F1 + 0.3·EM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      + 0.2·Faith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      − 0.1·max(0, latency−5)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에피소드 길이 = 1 — 가중치를 한 번 내면 retrieval·generation 이 일어나고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즉시 보상이 결정되므로 다단계 transition 이 없음. 이 단순화가 학습을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극히 안정적으로 만들고, 오프라인 보상 캐시 아이디어의 전제가 됨.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8 / 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B — 문제와 방법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신경망 구조 — Actor-Critic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Network Architecture · 5,636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5_1_actor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36792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82880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구성 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77440"/>
            <a:ext cx="39319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공유 백본: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  18 → 64 → 64 (Tanh)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Actor head: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  64 → 3 (Dirichlet α_i)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Critic head: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  64 → 1 (V(s))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총 파라미터 = 5,636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(스마트폰 수준)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9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B — 문제와 방법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학습 — PPO (Proximal Policy Optimization)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Training with PPO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학습 알고리즘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>• OpenAI 2017, ChatGPT RLHF 에도 사용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>• clip ratio = 0.2 (정책 업데이트 폭 제한)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>• GAE λ = 0.95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>• Entropy coef = 0.01 (탐색 유지)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>• Total episodes = 10,000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>• 3 random seeds: 42, 123, 999</a:t>
            </a:r>
          </a:p>
        </p:txBody>
      </p:sp>
      <p:pic>
        <p:nvPicPr>
          <p:cNvPr id="8" name="Picture 7" descr="fig5_2_ppo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303520" cy="20678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E3A8A"/>
                </a:solidFill>
                <a:latin typeface="Noto Sans CJK KR"/>
              </a:rPr>
              <a:t>3-seed 표준편차 &lt; 1% — 학습 자체의 재현성 확보.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10 / 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B — 문제와 방법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오프라인 보상 캐시 — 비용 병목 해소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Offline Reward 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756E"/>
                </a:solidFill>
                <a:latin typeface="Noto Sans CJK KR"/>
              </a:rPr>
              <a:t>문제: Naive PPO 는 매 에피소드 LLM 호출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486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• 10,000 ep × 3 seed × 32 rollout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  = 약 1M LLM 호출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• gpt-4o-mini 단가: ≈ $288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• 개인 연구자가 반복 실험 불가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FB573"/>
                </a:solidFill>
                <a:latin typeface="Noto Sans CJK KR"/>
              </a:rPr>
              <a:t>해결: 보상을 미리 전부 계산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5486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① 5,000 질의 × 66 이산 조합 = 330,000 엔트리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② (α, β, γ) → (F1, EM, Faith, latency) 를 SQLite 에 저장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③ 이후 PPO 학습은 조회만 — LLM 호출 0 회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캐시 구축 1회: $33 · 14시간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이후 3-seed 학습: 5시간 · $0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→ 총 비용 −85% 절감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103120"/>
            <a:ext cx="5303520" cy="347472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비용 구조 비교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              Naive PPO         Cache + PPO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─────────────────────────────────────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LLM 호출       ~1,000,000          330,000 (1회)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학습 호출      10,000,000+                  0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총 LLM 비용        $288                    $33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wall-clock         50 h+                  19 h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재학습 비용      매번 $288             매번 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760720"/>
            <a:ext cx="5303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Noto Sans CJK KR"/>
              </a:rPr>
              <a:t>→ 이 엔지니어링 선택이 개인 연구자 수준의</a:t>
            </a:r>
          </a:p>
          <a:p>
            <a:pPr algn="l"/>
            <a:r>
              <a:rPr sz="1300" b="1">
                <a:solidFill>
                  <a:srgbClr val="1E3A8A"/>
                </a:solidFill>
                <a:latin typeface="Noto Sans CJK KR"/>
              </a:rPr>
              <a:t>   반복 가능성을 만들어 주었다.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11 / 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B — 문제와 방법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재현성 복구 — Stage-wise CORRIGENDUM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Reproducibility Recovery (S0 → S3)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56E"/>
                </a:solidFill>
                <a:latin typeface="Noto Sans CJK KR"/>
              </a:rPr>
              <a:t>선행 JKSCI 2025 의 F1 0.86 이 현 저장소로는 재현 불가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548640" cy="6400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S0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688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Noto Sans CJK KR"/>
              </a:rPr>
              <a:t>JKSCI 원 주장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8892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CJK KR"/>
              </a:rPr>
              <a:t>재현 불가 (CORRIGENDUM §3)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60604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6B7280"/>
                </a:solidFill>
                <a:latin typeface="Noto Sans CJK KR"/>
              </a:rPr>
              <a:t>F1 ~0.86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37560"/>
            <a:ext cx="54864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3756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Noto Sans CJK KR"/>
              </a:rPr>
              <a:t>`normalize_korean` 구두점 버그 수정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576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CJK KR"/>
              </a:rPr>
              <a:t>토큰 분리 오류 → +90% 상승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47472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E3A8A"/>
                </a:solidFill>
                <a:latin typeface="Noto Sans CJK KR"/>
              </a:rPr>
              <a:t>F1 0.137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06240"/>
            <a:ext cx="548640" cy="64008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S2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0624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Noto Sans CJK KR"/>
              </a:rPr>
              <a:t>`PROMPT_TEMPLATE_LIST` 로 gold 형식 정렬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262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CJK KR"/>
              </a:rPr>
              <a:t>프롬프트 리스트 형식 → +286%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34340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4F86C6"/>
                </a:solidFill>
                <a:latin typeface="Noto Sans CJK KR"/>
              </a:rPr>
              <a:t>F1 0.529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74920"/>
            <a:ext cx="548640" cy="640080"/>
          </a:xfrm>
          <a:prstGeom prst="rect">
            <a:avLst/>
          </a:prstGeom>
          <a:solidFill>
            <a:srgbClr val="8F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663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S3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07492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Noto Sans CJK KR"/>
              </a:rPr>
              <a:t>`faithfulness()` 2-branch 도입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39496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CJK KR"/>
              </a:rPr>
              <a:t>리스트형 엄격화 (측정 정직성)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521208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8FB573"/>
                </a:solidFill>
                <a:latin typeface="Noto Sans CJK KR"/>
              </a:rPr>
              <a:t>F1 0.529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E3A8A"/>
                </a:solidFill>
                <a:latin typeface="Noto Sans CJK KR"/>
              </a:rPr>
              <a:t>본 논문은 S1+S2+S3 적용된 corrected baseline 위에서 L-DWA 의 순수 학습 기여를 측정.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12 / 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B — 문제와 방법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Experimental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566160" cy="41148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📚 벤치마크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합성 대학 코퍼스 (자체 구축)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60 학과 / 577 교수 / 1,505 과목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/ 400 프로젝트 / 2,542 문서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Gold QA: 5,000 쌍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(simple 2,000 / multi_hop 1,750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  / conditional 1,250)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566160" cy="41148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🔧 LLM · Embedding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gpt-4o-mini (2024-07-18)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temperature = 0.0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max_tokens = 500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text-embedding-3-small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(1536-dim)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FAISS IndexFlatIP, top-k=3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566160" cy="41148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📏 평가 지표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F1_strict (엄격 토큰 F1)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F1_substring (부분 일치 F1)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F1_char (문자 3-gram F1)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EM (Exact Match)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Faithfulness (2-branch)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Latency (seconds)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Noto Sans CJK KR"/>
              </a:rPr>
              <a:t>3 random seeds (42, 123, 999) 평균 보고 · post-CORRIGENDUM 평가기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13 / 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C — 결과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전체 결과 — 정책별 비교 (5,000 QA)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Overall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10312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정책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13716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9385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F1_strict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828800"/>
            <a:ext cx="13716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9385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F1_substring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828800"/>
            <a:ext cx="13716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9385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F1_char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1828800"/>
            <a:ext cx="13716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9385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13716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9385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Faith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1828800"/>
            <a:ext cx="13716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9385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Latency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331720"/>
            <a:ext cx="210312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459736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Noto Sans CJK KR"/>
              </a:rPr>
              <a:t>Vector-only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33172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24597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0.334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233172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24597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0.334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233172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24597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0.317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33172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24597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0.250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233172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4597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0.470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233172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24597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0.68s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2834640"/>
            <a:ext cx="210312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2962656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Noto Sans CJK KR"/>
              </a:rPr>
              <a:t>R-DWA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283464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296265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0.529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283464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296265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0.482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7840" y="283464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296265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0.469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0" y="283464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296265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0.387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283464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296265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0.544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92640" y="283464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0" y="296265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0.71s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3337560"/>
            <a:ext cx="210312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3465576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756E"/>
                </a:solidFill>
                <a:latin typeface="Noto Sans CJK KR"/>
              </a:rPr>
              <a:t>L-DWA (3-seed)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4640" y="333756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34640" y="346557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0.562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333756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06240" y="346557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0.507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77840" y="333756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0" y="346557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0.494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49440" y="333756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346557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0.388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1040" y="333756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1040" y="346557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0.580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92640" y="333756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92640" y="346557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0.76s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3840480"/>
            <a:ext cx="210312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3968496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FB573"/>
                </a:solidFill>
                <a:latin typeface="Noto Sans CJK KR"/>
              </a:rPr>
              <a:t>Oracle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34640" y="384048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34640" y="396849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0.554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06240" y="384048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06240" y="396849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0.504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77840" y="384048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77840" y="396849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0.487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949440" y="384048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49440" y="396849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0.388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21040" y="384048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21040" y="396849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0.570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92640" y="3840480"/>
            <a:ext cx="1371600" cy="50292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92640" y="396849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Noto Sans CJK KR"/>
              </a:rPr>
              <a:t>0.75s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49377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Noto Sans CJK KR"/>
              </a:rPr>
              <a:t>핵심: L-DWA 3-seed 평균이 R-DWA 대비 F1_strict +6.2%,</a:t>
            </a:r>
          </a:p>
          <a:p>
            <a:pPr algn="l"/>
            <a:r>
              <a:rPr sz="1400" b="1">
                <a:solidFill>
                  <a:srgbClr val="1E3A8A"/>
                </a:solidFill>
                <a:latin typeface="Noto Sans CJK KR"/>
              </a:rPr>
              <a:t>       Faithfulness +6.6%, 그리고 Oracle 0.554 를 네 F1 축 모두에서 초과.</a:t>
            </a:r>
          </a:p>
          <a:p>
            <a:pPr algn="l"/>
            <a:r>
              <a:rPr sz="1400" b="1">
                <a:solidFill>
                  <a:srgbClr val="1E3A8A"/>
                </a:solidFill>
                <a:latin typeface="Noto Sans CJK KR"/>
              </a:rPr>
              <a:t>       3-seed 표준편차는 ±0.007 수준으로 극히 안정적.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14 / 27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C — 결과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유형별 F1 — 어디서 개선 폭이 큰가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Per-Type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6_2_per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7315200" cy="28521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828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유형별 F1_strict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377440"/>
            <a:ext cx="3657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Simple (n=2000):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  R-DWA   0.874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  L-DWA  0.906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  Oracle  0.901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/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Multi-hop (n=1750):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  R-DWA   0.354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  L-DWA  0.365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  Oracle  0.380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/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Conditional (n=1250): ★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  R-DWA   0.223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  L-DWA  0.304  (+36.7%)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  Oracle  0.290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15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C — 결과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핵심 결과 ① — 이산 Oracle 상한 초과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Key Finding 1 · Continuous Policy Exceeds Discrete Oracle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56E"/>
                </a:solidFill>
                <a:latin typeface="Noto Sans CJK KR"/>
              </a:rPr>
              <a:t>66-점 이산 격자 argmax Oracle (F1_strict 0.554) 을</a:t>
            </a:r>
          </a:p>
          <a:p>
            <a:pPr algn="l"/>
            <a:r>
              <a:rPr sz="1800" b="1">
                <a:solidFill>
                  <a:srgbClr val="E8756E"/>
                </a:solidFill>
                <a:latin typeface="Noto Sans CJK KR"/>
              </a:rPr>
              <a:t>학습된 연속 Dirichlet 평균이 네 개 F1 축 모두에서 미세하게 초과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274320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지표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3108960"/>
            <a:ext cx="25603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32004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R-DWA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108960"/>
            <a:ext cx="25603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2004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Oracle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3108960"/>
            <a:ext cx="25603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32004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L-DWA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2743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393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>F1_strict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566160"/>
            <a:ext cx="25603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63931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KR"/>
              </a:rPr>
              <a:t>0.529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566160"/>
            <a:ext cx="25603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363931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KR"/>
              </a:rPr>
              <a:t>0.554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3566160"/>
            <a:ext cx="25603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363931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8756E"/>
                </a:solidFill>
                <a:latin typeface="Noto Sans CJK KR"/>
              </a:rPr>
              <a:t>0.562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77640"/>
            <a:ext cx="2743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507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>F1_substring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3977640"/>
            <a:ext cx="25603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405079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KR"/>
              </a:rPr>
              <a:t>0.482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977640"/>
            <a:ext cx="25603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405079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KR"/>
              </a:rPr>
              <a:t>0.504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3977640"/>
            <a:ext cx="25603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405079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8756E"/>
                </a:solidFill>
                <a:latin typeface="Noto Sans CJK KR"/>
              </a:rPr>
              <a:t>0.507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389120"/>
            <a:ext cx="2743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46227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>F1_char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4389120"/>
            <a:ext cx="25603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446227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KR"/>
              </a:rPr>
              <a:t>0.469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4389120"/>
            <a:ext cx="25603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446227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KR"/>
              </a:rPr>
              <a:t>0.487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4389120"/>
            <a:ext cx="25603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0" y="446227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8756E"/>
                </a:solidFill>
                <a:latin typeface="Noto Sans CJK KR"/>
              </a:rPr>
              <a:t>0.494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800600"/>
            <a:ext cx="2743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873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Noto Sans CJK KR"/>
              </a:rPr>
              <a:t>Faithfulness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0" y="4800600"/>
            <a:ext cx="25603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0" y="487375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KR"/>
              </a:rPr>
              <a:t>0.544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4800600"/>
            <a:ext cx="25603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487375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KR"/>
              </a:rPr>
              <a:t>0.570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60" y="4800600"/>
            <a:ext cx="25603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487375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8756E"/>
                </a:solidFill>
                <a:latin typeface="Noto Sans CJK KR"/>
              </a:rPr>
              <a:t>0.580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3A8A"/>
                </a:solidFill>
                <a:latin typeface="Noto Sans CJK KR"/>
              </a:rPr>
              <a:t>해석 — Oracle 은 66개 이산 점 중 argmax. L-DWA 의 Dirichlet 평균은</a:t>
            </a:r>
          </a:p>
          <a:p>
            <a:pPr algn="l"/>
            <a:r>
              <a:rPr sz="1300" b="0">
                <a:solidFill>
                  <a:srgbClr val="1E3A8A"/>
                </a:solidFill>
                <a:latin typeface="Noto Sans CJK KR"/>
              </a:rPr>
              <a:t>연속 공간 → 격자 바깥 지점을 활용 가능. 양적 개선이 아닌 질적 의미.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16 / 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C — 결과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핵심 결과 ② — Conditional +27.8%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Key Finding 2 · Largest Per-Type Gain in Conditional (3-seed mean)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56E"/>
                </a:solidFill>
                <a:latin typeface="Noto Sans CJK KR"/>
              </a:rPr>
              <a:t>조건부 질의 (n = 1,250) 에서 가장 큰 상대 개선.</a:t>
            </a:r>
          </a:p>
          <a:p>
            <a:pPr algn="l"/>
            <a:r>
              <a:rPr sz="1800" b="1">
                <a:solidFill>
                  <a:srgbClr val="E8756E"/>
                </a:solidFill>
                <a:latin typeface="Noto Sans CJK KR"/>
              </a:rPr>
              <a:t>L-DWA 3-seed 평균이 Oracle 0.290 과 사실상 동등 (이산 상한 도달).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3566160" cy="2286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Noto Sans CJK KR"/>
              </a:rPr>
              <a:t>R-DWA</a:t>
            </a:r>
          </a:p>
          <a:p>
            <a:pPr algn="ctr"/>
            <a:r>
              <a:rPr sz="1400" b="1">
                <a:solidFill>
                  <a:srgbClr val="6B7280"/>
                </a:solidFill>
                <a:latin typeface="Noto Sans CJK KR"/>
              </a:rPr>
              <a:t>(기존 규칙 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6B7280"/>
                </a:solidFill>
                <a:latin typeface="Noto Sans CJK KR"/>
              </a:rPr>
              <a:t>0.223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CJK KR"/>
              </a:rPr>
              <a:t>고정 (0.2, 0.2, 0.6)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108960"/>
            <a:ext cx="3566160" cy="2286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F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324612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8FB573"/>
                </a:solidFill>
                <a:latin typeface="Noto Sans CJK KR"/>
              </a:rPr>
              <a:t>Oracle</a:t>
            </a:r>
          </a:p>
          <a:p>
            <a:pPr algn="ctr"/>
            <a:r>
              <a:rPr sz="1400" b="1">
                <a:solidFill>
                  <a:srgbClr val="8FB573"/>
                </a:solidFill>
                <a:latin typeface="Noto Sans CJK KR"/>
              </a:rPr>
              <a:t>(이산 상한)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93192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8FB573"/>
                </a:solidFill>
                <a:latin typeface="Noto Sans CJK KR"/>
              </a:rPr>
              <a:t>0.290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8463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CJK KR"/>
              </a:rPr>
              <a:t>66-점 argmax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108960"/>
            <a:ext cx="3566160" cy="2286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8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24612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8756E"/>
                </a:solidFill>
                <a:latin typeface="Noto Sans CJK KR"/>
              </a:rPr>
              <a:t>L-DWA</a:t>
            </a:r>
          </a:p>
          <a:p>
            <a:pPr algn="ctr"/>
            <a:r>
              <a:rPr sz="1400" b="1">
                <a:solidFill>
                  <a:srgbClr val="E8756E"/>
                </a:solidFill>
                <a:latin typeface="Noto Sans CJK KR"/>
              </a:rPr>
              <a:t>(3-seed 평균)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93192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E8756E"/>
                </a:solidFill>
                <a:latin typeface="Noto Sans CJK KR"/>
              </a:rPr>
              <a:t>0.285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463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CJK KR"/>
              </a:rPr>
              <a:t>± 0.029 (s42 0.304 / s123 0.251 / s999 0.301)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3A8A"/>
                </a:solidFill>
                <a:latin typeface="Noto Sans CJK KR"/>
              </a:rPr>
              <a:t>해석 — 같은 conditional 이라도 수치 제약 · 열거형 · 배타 조건이 각기 다른데,</a:t>
            </a:r>
          </a:p>
          <a:p>
            <a:pPr algn="l"/>
            <a:r>
              <a:rPr sz="1300" b="0">
                <a:solidFill>
                  <a:srgbClr val="1E3A8A"/>
                </a:solidFill>
                <a:latin typeface="Noto Sans CJK KR"/>
              </a:rPr>
              <a:t>R-DWA 는 이들을 하나로 묶어 처리. 학습이 내부 차이를 포착.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17 / 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C — 결과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통계적 방어 — Paired Bootstrap (BCa 95% CI)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Statistical Significance · 5,000 BCa Resamples · Cohen's d_z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756E"/>
                </a:solidFill>
                <a:latin typeface="Noto Sans CJK KR"/>
              </a:rPr>
              <a:t>5,000 query-level paired bootstrap. Cache regime, F1.</a:t>
            </a:r>
          </a:p>
          <a:p>
            <a:pPr algn="l"/>
            <a:r>
              <a:rPr sz="1500" b="1">
                <a:solidFill>
                  <a:srgbClr val="E8756E"/>
                </a:solidFill>
                <a:latin typeface="Noto Sans CJK KR"/>
              </a:rPr>
              <a:t>L-DWA 3 seeds 모두 R-DWA 를 통계적으로 유의하게 능가 (p &lt; 1e-4).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228600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1635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비교 (vs R-DWA)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2743200"/>
            <a:ext cx="109728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8163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743200"/>
            <a:ext cx="219456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81635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95% CI (BCa)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743200"/>
            <a:ext cx="91440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8163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2743200"/>
            <a:ext cx="128016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281635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Cohen's d_z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743200"/>
            <a:ext cx="64008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8163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판정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27248"/>
            <a:ext cx="22860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1868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Noto Sans CJK KR"/>
              </a:rPr>
              <a:t>Uniform (1/3, 1/3, 1/3)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3127248"/>
            <a:ext cx="109728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321868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+0.0114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3127248"/>
            <a:ext cx="219456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321868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[+0.0091, +0.0138]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127248"/>
            <a:ext cx="9144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218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&lt; 1e-4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3127248"/>
            <a:ext cx="128016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321868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+0.135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3127248"/>
            <a:ext cx="64008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2186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511296"/>
            <a:ext cx="22860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602736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Noto Sans CJK KR"/>
              </a:rPr>
              <a:t>Vector-only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3511296"/>
            <a:ext cx="109728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360273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+0.0107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3511296"/>
            <a:ext cx="219456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3602736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[+0.0080, +0.0132]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3511296"/>
            <a:ext cx="9144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360273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&lt; 1e-4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0880" y="3511296"/>
            <a:ext cx="128016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36027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+0.114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3511296"/>
            <a:ext cx="64008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3602736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895344"/>
            <a:ext cx="22860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986784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756E"/>
                </a:solidFill>
                <a:latin typeface="Noto Sans CJK KR"/>
              </a:rPr>
              <a:t>L-DWA seed 42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3895344"/>
            <a:ext cx="109728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40" y="3986784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+0.0147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1920" y="3895344"/>
            <a:ext cx="219456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0" y="3986784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[+0.0123, +0.0170]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3895344"/>
            <a:ext cx="9144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398678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&lt; 1e-4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80" y="3895344"/>
            <a:ext cx="128016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0" y="3986784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+0.174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3895344"/>
            <a:ext cx="64008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398678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279392"/>
            <a:ext cx="22860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37083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756E"/>
                </a:solidFill>
                <a:latin typeface="Noto Sans CJK KR"/>
              </a:rPr>
              <a:t>L-DWA seed 123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40" y="4279392"/>
            <a:ext cx="109728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34640" y="437083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+0.0143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31920" y="4279392"/>
            <a:ext cx="219456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31920" y="43708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[+0.0120, +0.0167]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4279392"/>
            <a:ext cx="9144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43708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&lt; 1e-4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40880" y="4279392"/>
            <a:ext cx="128016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40880" y="437083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+0.173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21040" y="4279392"/>
            <a:ext cx="64008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21040" y="437083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✅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4663440"/>
            <a:ext cx="22860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47548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756E"/>
                </a:solidFill>
                <a:latin typeface="Noto Sans CJK KR"/>
              </a:rPr>
              <a:t>L-DWA seed 999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34640" y="4663440"/>
            <a:ext cx="109728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34640" y="47548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+0.0125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31920" y="4663440"/>
            <a:ext cx="219456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31920" y="47548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[+0.0101, +0.0149]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6480" y="4663440"/>
            <a:ext cx="9144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0" y="4754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&lt; 1e-4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40880" y="4663440"/>
            <a:ext cx="128016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40880" y="47548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+0.146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21040" y="4663440"/>
            <a:ext cx="64008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21040" y="475488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✅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5047488"/>
            <a:ext cx="22860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8640" y="513892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FB573"/>
                </a:solidFill>
                <a:latin typeface="Noto Sans CJK KR"/>
              </a:rPr>
              <a:t>Oracle (per-q argmax)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34640" y="5047488"/>
            <a:ext cx="109728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834640" y="513892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+0.0494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31920" y="5047488"/>
            <a:ext cx="219456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931920" y="51389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[+0.0464, +0.0524]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26480" y="5047488"/>
            <a:ext cx="9144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26480" y="51389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&lt; 1e-4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040880" y="5047488"/>
            <a:ext cx="128016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040880" y="51389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+0.456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321040" y="5047488"/>
            <a:ext cx="640080" cy="384048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321040" y="51389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Noto Sans CJK KR"/>
              </a:rPr>
              <a:t>✅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" y="54864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3A8A"/>
                </a:solidFill>
                <a:latin typeface="Noto Sans CJK KR"/>
              </a:rPr>
              <a:t>정직한 부수 발견: Cache regime 에서 R-DWA 가 Uniform/Vector-only 에 유의하게 진다 (Δ −0.011, p &lt; 1e-4).</a:t>
            </a:r>
          </a:p>
          <a:p>
            <a:pPr algn="l"/>
            <a:r>
              <a:rPr sz="1200" b="0">
                <a:solidFill>
                  <a:srgbClr val="1E3A8A"/>
                </a:solidFill>
                <a:latin typeface="Noto Sans CJK KR"/>
              </a:rPr>
              <a:t>→ R-DWA 의 baseline 가치는 단일 소스 회피에 있으나 균등 분배 능가는 아님 (RQ1 부정 답변).</a:t>
            </a:r>
          </a:p>
          <a:p>
            <a:pPr algn="l"/>
            <a:r>
              <a:rPr sz="1200" b="0">
                <a:solidFill>
                  <a:srgbClr val="1E3A8A"/>
                </a:solidFill>
                <a:latin typeface="Noto Sans CJK KR"/>
              </a:rPr>
              <a:t>→ List-prompt regime 에서의 Uniform 비교는 §8 나 1순위 향후 연구로 명시.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18 / 27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C — 결과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Δ³ 위 정책별 평균 가중치 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Mean Weight Positions on the 3-Simplex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6_3_weigh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2171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82880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읽는 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77440"/>
            <a:ext cx="39319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R-DWA 평균 (파랑):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  (0.25, 0.45, 0.30)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  Graph 쪽 치우침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/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L-DWA 평균 (빨강):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  (0.25, 0.30, 0.45)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  Ontology 쪽 이동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/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Oracle 평균 (초록):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  (0.11, 0.16, 0.73)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  Ontology 꼭짓점 근처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E3A8A"/>
                </a:solidFill>
                <a:latin typeface="Noto Sans CJK KR"/>
              </a:rPr>
              <a:t>정답 분포의 진짜 지형은 Ontology 지배적. R-DWA 는 이를 반영하지 못함.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19 / 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C — 결과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PPO 3-seed 학습 곡선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PPO Convergence across 3 Seeds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5_2_ppo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737360"/>
            <a:ext cx="9784080" cy="38147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692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Noto Sans CJK KR"/>
              </a:rPr>
              <a:t>세 시드 모두 mean_reward ≈ 0.215 ± 0.002 로 수렴.</a:t>
            </a:r>
          </a:p>
          <a:p>
            <a:pPr algn="ctr"/>
            <a:r>
              <a:rPr sz="1400" b="1">
                <a:solidFill>
                  <a:srgbClr val="1E3A8A"/>
                </a:solidFill>
                <a:latin typeface="Noto Sans CJK KR"/>
              </a:rPr>
              <a:t>1% 미만의 표준편차 → 학습 자체의 재현 가능성 확보.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20 /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C — 결과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교차 도메인 — naive transfer 의 한계와 원인 분해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Cross-domain · Failure Decomposed into 3 Axes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6_5_cross_domain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943600" cy="24074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18288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56E"/>
                </a:solidFill>
                <a:latin typeface="Noto Sans CJK KR"/>
              </a:rPr>
              <a:t>실패의 세 층위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377440"/>
            <a:ext cx="48463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Noto Sans CJK KR"/>
              </a:rPr>
              <a:t>① 언어 장벽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Noto Sans CJK KR"/>
              </a:rPr>
              <a:t>    한국어 정규식 intent → 영어 질의 density ≈ 0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Noto Sans CJK KR"/>
              </a:rPr>
              <a:t>    → 영어 intent 추가 시 R-DWA +38%, L-DWA +49%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Noto Sans CJK KR"/>
              </a:rPr>
              <a:t>② 도메인 어휘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Noto Sans CJK KR"/>
              </a:rPr>
              <a:t>    학습된 엔티티 vs HotpotQA 엔티티 상이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Noto Sans CJK KR"/>
              </a:rPr>
              <a:t>    → 영어 합성 벤치마크 R-DWA 0.663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Noto Sans CJK KR"/>
              </a:rPr>
              <a:t>       (한국어 0.529 보다 높음)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Noto Sans CJK KR"/>
              </a:rPr>
              <a:t>③ Graph·Ontology 부재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Noto Sans CJK KR"/>
              </a:rPr>
              <a:t>    HotpotQA 는 그래프 구조 없음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Noto Sans CJK KR"/>
              </a:rPr>
              <a:t>    → 재학습 해도 곡선 평탄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Noto Sans CJK KR"/>
              </a:rPr>
              <a:t>    = Triple-Hybrid 의 본질적 경계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21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C — 결과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이 논문의 기여 네 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Four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7432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방법론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7452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Triple-Hybrid RAG 의 가중치 결정을 1-step MDP 로 공식화하고 PPO 로 학습한 최초 사례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274320" cy="9144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F86C6"/>
                </a:solidFill>
                <a:latin typeface="Noto Sans CJK KR"/>
              </a:rPr>
              <a:t>엔지니어링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92608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오프라인 보상 캐시 (330K, 16.8 MB) 로 학습 비용 $288 → $33 (−85%).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RL-based RAG 튜닝을 개인 연구자 수준으로 접근 가능하게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274320" cy="914400"/>
          </a:xfrm>
          <a:prstGeom prst="rect">
            <a:avLst/>
          </a:prstGeom>
          <a:solidFill>
            <a:srgbClr val="8F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FB573"/>
                </a:solidFill>
                <a:latin typeface="Noto Sans CJK KR"/>
              </a:rPr>
              <a:t>재현성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97764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선행 JKSCI 2025 의 평가 코드 결함 3건 발견 · 수정 · CORRIGENDUM 공개 정정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(구두점 처리 · 프롬프트 형식 · Faithfulness 2-branch)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83480"/>
            <a:ext cx="274320" cy="914400"/>
          </a:xfrm>
          <a:prstGeom prst="rect">
            <a:avLst/>
          </a:prstGeom>
          <a:solidFill>
            <a:srgbClr val="E87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0292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56E"/>
                </a:solidFill>
                <a:latin typeface="Noto Sans CJK KR"/>
              </a:rPr>
              <a:t>실증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029200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L-DWA 가 R-DWA 대비 F1_strict +6.2%, 이산 Oracle 상한 0.554 를 0.562 로 초과.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Conditional 유형에서 3-seed 평균 +27.8% (R-DWA 0.223 → L-DWA 0.285), Oracle 0.290 과 동등.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Paired bootstrap 으로 L-DWA 3-seed 모두 R-DWA 유의 능가 (Δ ≈ +0.014, p &lt; 1e-4) 검증.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22 / 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D — 결론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한계 및 향후 연구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Limitations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56E"/>
                </a:solidFill>
                <a:latin typeface="Noto Sans CJK KR"/>
              </a:rPr>
              <a:t>솔직하게 보고하는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• 한국어 단일 도메인 end-to-end 학습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• State 품질이 L-DWA 상한 결정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    (영어 state 미구분 → R-DWA 수준)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• EM 구조적 문제 — list prompt 로 0.39 회복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• BERT intent classifier 미학습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• 교차 도메인 naive transfer −30~35%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향후 연구 방향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5303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• 다국어 state feature 설계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• 도메인별 fine-tuning 레시피 체계화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• Reward 재설계 (EM 가중치 재분배)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• Joint multi-domain training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• 더 큰 Actor-Critic 의 스케일링 효과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CJK KR"/>
              </a:rPr>
              <a:t>• 선행 저장소와 평가기 통일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23 / 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D — 결론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연구 과정에서 얻은 두 교훈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Two 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1E3A8A"/>
                </a:solidFill>
                <a:latin typeface="Noto Sans CJK KR"/>
              </a:rPr>
              <a:t>① 평가 코드를 다시 들여다본 경험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마무리 단계에서 F1 수치가 기대보다 낮다는 인상을 받아 normalize_korean 을 역추적한 끝에, 쉼표와 마침표가 토큰화 이전에 제거되지 않는 작은 버그를 발견. 이를 바로잡고 나서야 L-DWA 의 Oracle 대비 위치가 제대로 드러남.  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→ 실험 결과가 직관과 어긋날 때 평가 코드부터 다시 읽어 보는 습관의 중요성.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>
                <a:solidFill>
                  <a:srgbClr val="8FB573"/>
                </a:solidFill>
                <a:latin typeface="Noto Sans CJK KR"/>
              </a:rPr>
              <a:t>② 기대와 다르게 나온 결과를 어떻게 다룰지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교차 도메인 실험이 30~35% 저하로 나오자 한 문단 "한계" 로 넘기고 싶은 유혹이 있었음. 그러나 원인을 언어 · 도메인 · 아키텍처로 나누어 각각 별도 실험으로 확인해 보는 편이 오히려 더 명확한 결론을 냄.  </a:t>
            </a:r>
          </a:p>
          <a:p>
            <a:pPr algn="l"/>
            <a:r>
              <a:rPr sz="1200">
                <a:solidFill>
                  <a:srgbClr val="1E293B"/>
                </a:solidFill>
                <a:latin typeface="Noto Sans CJK KR"/>
              </a:rPr>
              <a:t>→ 부정적 결과를 빨리 결론짓지 않는 쪽이 장기적으로 나은 서사를 만든다.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24 /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Part D — 결론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Noto Sans CJK KR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Arial"/>
              </a:rPr>
              <a:t>Thank you · 질의응답 (Q&amp;A)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공개 자원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GitHub: github.com/sdw1621/triple-rag-phd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Dashboard: triple-rag-phd.streamlit.app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CORRIGENDUM: github.com/sdw1621/hybrid-rag-comparsion/blob/main/CORRIGENDUM.md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신동욱 · 호서대학교 대학원 융합공학과 ·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Appendix A — PPO Hyperparameters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Table 5-4 reproduction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6576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828800"/>
            <a:ext cx="2011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Arial"/>
              </a:rPr>
              <a:t>learning_rate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3A8A"/>
                </a:solidFill>
                <a:latin typeface="Arial"/>
              </a:rPr>
              <a:t>3.0e-4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36576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240280"/>
            <a:ext cx="2011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Arial"/>
              </a:rPr>
              <a:t>gae_lambda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31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3A8A"/>
                </a:solidFill>
                <a:latin typeface="Arial"/>
              </a:rPr>
              <a:t>0.95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651760"/>
            <a:ext cx="36576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651760"/>
            <a:ext cx="2011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7432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Arial"/>
              </a:rPr>
              <a:t>clip_ratio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43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3A8A"/>
                </a:solidFill>
                <a:latin typeface="Arial"/>
              </a:rPr>
              <a:t>0.2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063240"/>
            <a:ext cx="36576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063240"/>
            <a:ext cx="2011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1546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Arial"/>
              </a:rPr>
              <a:t>value_coef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1546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3A8A"/>
                </a:solidFill>
                <a:latin typeface="Arial"/>
              </a:rPr>
              <a:t>0.5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474720"/>
            <a:ext cx="36576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474720"/>
            <a:ext cx="2011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5661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Arial"/>
              </a:rPr>
              <a:t>entropy_coef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5661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3A8A"/>
                </a:solidFill>
                <a:latin typeface="Arial"/>
              </a:rPr>
              <a:t>0.01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886200"/>
            <a:ext cx="36576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3886200"/>
            <a:ext cx="2011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977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Arial"/>
              </a:rPr>
              <a:t>max_grad_norm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9776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3A8A"/>
                </a:solidFill>
                <a:latin typeface="Arial"/>
              </a:rPr>
              <a:t>0.5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1828800"/>
            <a:ext cx="36576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49840" y="1828800"/>
            <a:ext cx="2011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19202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Arial"/>
              </a:rPr>
              <a:t>total_episodes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19202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3A8A"/>
                </a:solidFill>
                <a:latin typeface="Arial"/>
              </a:rPr>
              <a:t>10,000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240280"/>
            <a:ext cx="36576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49840" y="2240280"/>
            <a:ext cx="2011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23317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Arial"/>
              </a:rPr>
              <a:t>rollout_per_episode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2331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3A8A"/>
                </a:solidFill>
                <a:latin typeface="Arial"/>
              </a:rPr>
              <a:t>32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2651760"/>
            <a:ext cx="36576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49840" y="2651760"/>
            <a:ext cx="2011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27432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Arial"/>
              </a:rPr>
              <a:t>update_epochs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2743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3A8A"/>
                </a:solidFill>
                <a:latin typeface="Arial"/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3063240"/>
            <a:ext cx="36576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49840" y="3063240"/>
            <a:ext cx="2011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31546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Arial"/>
              </a:rPr>
              <a:t>minibatch_size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31546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3A8A"/>
                </a:solidFill>
                <a:latin typeface="Arial"/>
              </a:rPr>
              <a:t>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3474720"/>
            <a:ext cx="36576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149840" y="3474720"/>
            <a:ext cx="2011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9400" y="35661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Arial"/>
              </a:rPr>
              <a:t>gamma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0" y="35661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3A8A"/>
                </a:solidFill>
                <a:latin typeface="Arial"/>
              </a:rPr>
              <a:t>0.99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886200"/>
            <a:ext cx="36576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149840" y="3886200"/>
            <a:ext cx="2011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29400" y="3977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Arial"/>
              </a:rPr>
              <a:t>seeds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39776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3A8A"/>
                </a:solidFill>
                <a:latin typeface="Arial"/>
              </a:rPr>
              <a:t>42, 123, 999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26 / 27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Appendix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Noto Sans CJK KR"/>
              </a:rPr>
              <a:t>Appendix B — Case Studies CS-1 ~ CS-7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Qualitative case summaries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25000"/>
          </a:xfrm>
          <a:prstGeom prst="rect">
            <a:avLst/>
          </a:prstGeom>
          <a:solidFill>
            <a:srgbClr val="4F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9144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CS-1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7452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Noto Sans CJK KR"/>
              </a:rPr>
              <a:t>Simple 정책 수렴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2024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"/>
              </a:rPr>
              <a:t>세 정책 모두 F1=1.0 (최재원 교수 소속 학과)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9144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CS-2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688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Noto Sans CJK KR"/>
              </a:rPr>
              <a:t>Multi-hop 부분 회수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51460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"/>
              </a:rPr>
              <a:t>R-DWA/L-DWA 동일 1/2 엔티티, Oracle 2/2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9144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CS-3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6324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Noto Sans CJK KR"/>
              </a:rPr>
              <a:t>Conditional 개선과 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10896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"/>
              </a:rPr>
              <a:t>개별 실패지만 유형 집계 +27.8% (3-seed mean, Oracle 동등)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11880"/>
            <a:ext cx="9144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CS-4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6576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Noto Sans CJK KR"/>
              </a:rPr>
              <a:t>Faithfulness 2-branch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70332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"/>
              </a:rPr>
              <a:t>Sentence 1.0 (과대) vs List 0.5 (환각 노출)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206240"/>
            <a:ext cx="9144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CS-5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25196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Noto Sans CJK KR"/>
              </a:rPr>
              <a:t>Retrieval 한계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29768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"/>
              </a:rPr>
              <a:t>Oracle 조차 12개 중 2개만 — 컨텍스트 상한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800600"/>
            <a:ext cx="9144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8920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CS-6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84632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Noto Sans CJK KR"/>
              </a:rPr>
              <a:t>교차 도메인 퇴행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89204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"/>
              </a:rPr>
              <a:t>영어 질의 → density 0 → Vector-only 이하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394960"/>
            <a:ext cx="9144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864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CS-7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4406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Noto Sans CJK KR"/>
              </a:rPr>
              <a:t>List 프롬프트 효과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48640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"/>
              </a:rPr>
              <a:t>F1_strict 0.137 → 0.529 (×3.86), 평균 latency −50%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836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Noto Sans CJK KR"/>
              </a:rPr>
              <a:t>신동욱 (Shin Dong-wook) · 호서대학교 대학원 융합공학과 · 박사학위 방어 발표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5836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CJK KR"/>
              </a:rPr>
              <a:t>27 / 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1295" y="6583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Noto Sans CJK KR"/>
              </a:rP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